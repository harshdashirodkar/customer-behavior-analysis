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unito Light"/>
      <p:regular r:id="rId201314"/>
    </p:embeddedFont>
    <p:embeddedFont>
      <p:font typeface="Nunito"/>
      <p:regular r:id="rId201315"/>
    </p:embeddedFont>
    <p:embeddedFont>
      <p:font typeface="Nunito Medium"/>
      <p:regular r:id="rId201316"/>
    </p:embeddedFont>
    <p:embeddedFont>
      <p:font typeface="Nunito SemiBold"/>
      <p:regular r:id="rId201317"/>
    </p:embeddedFont>
    <p:embeddedFont>
      <p:font typeface="Nunito Bold"/>
      <p:regular r:id="rId201318"/>
    </p:embeddedFont>
    <p:embeddedFont>
      <p:font typeface="Nunito ExtraBold"/>
      <p:regular r:id="rId201319"/>
    </p:embeddedFont>
    <p:embeddedFont>
      <p:font typeface="Nunito Black"/>
      <p:regular r:id="rId201320"/>
    </p:embeddedFont>
    <p:embeddedFont>
      <p:font typeface="Nunito ExtraLight"/>
      <p:regular r:id="rId201321"/>
    </p:embeddedFont>
    <p:embeddedFont>
      <p:font typeface="PT Sans"/>
      <p:regular r:id="rId201322"/>
    </p:embeddedFont>
    <p:embeddedFont>
      <p:font typeface="PT Sans Bold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3.png"/><Relationship Id="rId10" Type="http://schemas.openxmlformats.org/officeDocument/2006/relationships/image" Target="../media/image-5-4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image" Target="../media/image-9-3.png"/><Relationship Id="rId10" Type="http://schemas.openxmlformats.org/officeDocument/2006/relationships/image" Target="../media/image-9-4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269430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Shopping Behavior Analysis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69971" y="3741936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End-to-End Retail Analytics — Python · MySQL · Power BI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5269971" y="4285456"/>
            <a:ext cx="1776963" cy="303113"/>
          </a:xfrm>
          <a:prstGeom prst="roundRect">
            <a:avLst>
              <a:gd name="adj" fmla="val 78972"/>
            </a:avLst>
          </a:prstGeom>
          <a:solidFill>
            <a:srgbClr val="CFD6FC"/>
          </a:solidFill>
          <a:ln/>
        </p:spPr>
      </p:sp>
      <p:sp>
        <p:nvSpPr>
          <p:cNvPr id="6" name="Text 3"/>
          <p:cNvSpPr/>
          <p:nvPr/>
        </p:nvSpPr>
        <p:spPr>
          <a:xfrm>
            <a:off x="5389626" y="4345285"/>
            <a:ext cx="2147238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HARSHDA SHIRODKAR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557635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Business Objective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5269971" y="2443460"/>
            <a:ext cx="3012107" cy="1488281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8446" y="2661940"/>
            <a:ext cx="25751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~3,900 Transactions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8446" y="3074888"/>
            <a:ext cx="25751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18 customer &amp; purchase attributes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481503" y="2443460"/>
            <a:ext cx="3012107" cy="1488281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99977" y="2661940"/>
            <a:ext cx="25751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3-Stage Workflow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99977" y="3074888"/>
            <a:ext cx="257515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Python → MySQL → Power BI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269971" y="4131171"/>
            <a:ext cx="6223638" cy="1169095"/>
          </a:xfrm>
          <a:prstGeom prst="roundRect">
            <a:avLst>
              <a:gd name="adj" fmla="val 25594"/>
            </a:avLst>
          </a:prstGeom>
          <a:solidFill>
            <a:srgbClr val="F3F3FF"/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8446" y="4349651"/>
            <a:ext cx="578669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Key Questions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8446" y="4762599"/>
            <a:ext cx="578669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Revenue, segments, ratings, discounts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35918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Dataset Overview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432" y="1997373"/>
            <a:ext cx="6512457" cy="36904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22032" y="1843187"/>
            <a:ext cx="347782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Info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022032" y="2301776"/>
            <a:ext cx="3477828" cy="654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 ID, Age, Gender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Location, Subscription Status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22032" y="3135908"/>
            <a:ext cx="347782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Purchase Info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022032" y="3594497"/>
            <a:ext cx="3477828" cy="1012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Category, Item, Amount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Season, Shipping, Discount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Review Rating, Previous Purchases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022032" y="4809728"/>
            <a:ext cx="3477828" cy="1009848"/>
          </a:xfrm>
          <a:prstGeom prst="roundRect">
            <a:avLst>
              <a:gd name="adj" fmla="val 28149"/>
            </a:avLst>
          </a:prstGeom>
          <a:solidFill>
            <a:srgbClr val="CFD6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535" y="5096570"/>
            <a:ext cx="236829" cy="1895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37867" y="5019080"/>
            <a:ext cx="2672489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Missing Review Ratings imputed using category-wise median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4324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Stage 1: Data Cleaning (Python)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305" y="1728887"/>
            <a:ext cx="8395085" cy="38422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26457" y="4524956"/>
            <a:ext cx="1576113" cy="571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Export Cleaned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40123" y="4524956"/>
            <a:ext cx="1576113" cy="571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Rename &amp; Feature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364585" y="4524956"/>
            <a:ext cx="1576113" cy="571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Handle Missing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345865" y="4524956"/>
            <a:ext cx="1576113" cy="571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Import &amp; Inspect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8086" y="5795466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Used Pandas &amp; NumPy for preprocessing; created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Age Group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Purchase Frequency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features for downstream analysis.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42640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Stage 2: SQL Analysis (MySQL Workbench)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8086" y="1574502"/>
            <a:ext cx="517879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Analyses Performed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5354" y="2025799"/>
            <a:ext cx="269273" cy="269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1477" y="2020292"/>
            <a:ext cx="4595400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Revenue by Gender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354" y="2893070"/>
            <a:ext cx="269273" cy="269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1477" y="2887563"/>
            <a:ext cx="4595400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Top-Rated Products</a:t>
            </a:r>
            <a:endParaRPr lang="en-US" sz="16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5354" y="3760341"/>
            <a:ext cx="269273" cy="2692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1477" y="3754834"/>
            <a:ext cx="4595400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Customer Segmentation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5354" y="4627612"/>
            <a:ext cx="269273" cy="2692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81477" y="4622105"/>
            <a:ext cx="4595400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Subscriber vs. Non-Subscriber</a:t>
            </a:r>
            <a:endParaRPr lang="en-US" sz="16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5354" y="5494883"/>
            <a:ext cx="269273" cy="2692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81477" y="5489377"/>
            <a:ext cx="4595400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Revenue by Age Group</a:t>
            </a:r>
            <a:endParaRPr lang="en-US" sz="1650" dirty="0"/>
          </a:p>
        </p:txBody>
      </p:sp>
      <p:sp>
        <p:nvSpPr>
          <p:cNvPr id="14" name="Shape 7"/>
          <p:cNvSpPr/>
          <p:nvPr/>
        </p:nvSpPr>
        <p:spPr>
          <a:xfrm>
            <a:off x="6321168" y="1594743"/>
            <a:ext cx="5178792" cy="3086497"/>
          </a:xfrm>
          <a:prstGeom prst="roundRect">
            <a:avLst>
              <a:gd name="adj" fmla="val 8725"/>
            </a:avLst>
          </a:prstGeom>
          <a:solidFill>
            <a:srgbClr val="E6E6F2"/>
          </a:solidFill>
          <a:ln/>
        </p:spPr>
      </p:sp>
      <p:sp>
        <p:nvSpPr>
          <p:cNvPr id="15" name="Shape 8"/>
          <p:cNvSpPr/>
          <p:nvPr/>
        </p:nvSpPr>
        <p:spPr>
          <a:xfrm>
            <a:off x="6312238" y="1594743"/>
            <a:ext cx="5196650" cy="3086497"/>
          </a:xfrm>
          <a:prstGeom prst="roundRect">
            <a:avLst>
              <a:gd name="adj" fmla="val 873"/>
            </a:avLst>
          </a:prstGeom>
          <a:solidFill>
            <a:srgbClr val="E6E6F2"/>
          </a:solidFill>
          <a:ln/>
        </p:spPr>
      </p:sp>
      <p:sp>
        <p:nvSpPr>
          <p:cNvPr id="16" name="Text 9"/>
          <p:cNvSpPr/>
          <p:nvPr/>
        </p:nvSpPr>
        <p:spPr>
          <a:xfrm>
            <a:off x="6536566" y="1774230"/>
            <a:ext cx="4747995" cy="272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73A4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4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73A4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CASE</a:t>
            </a:r>
            <a:endParaRPr lang="en-US" sz="14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73A4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WHEN previous_purchases &lt;=1 THEN 'New'</a:t>
            </a:r>
            <a:endParaRPr lang="en-US" sz="14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73A4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WHEN previous_purchases BETWEEN 2 AND 5 THEN 'Returning'</a:t>
            </a:r>
            <a:endParaRPr lang="en-US" sz="14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73A4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ELSE 'Loyal'</a:t>
            </a:r>
            <a:endParaRPr lang="en-US" sz="14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73A4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END AS customer_segment,</a:t>
            </a:r>
            <a:endParaRPr lang="en-US" sz="14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73A4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COUNT(*) AS customers</a:t>
            </a:r>
            <a:endParaRPr lang="en-US" sz="14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73A4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</a:t>
            </a:r>
            <a:endParaRPr lang="en-US" sz="14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73A4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customer_segment;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383109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Stage 3: Power BI Dashboard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5269971" y="2855615"/>
            <a:ext cx="6223638" cy="2619276"/>
          </a:xfrm>
          <a:prstGeom prst="roundRect">
            <a:avLst>
              <a:gd name="adj" fmla="val 11424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89021" y="2874665"/>
            <a:ext cx="3092770" cy="1450181"/>
          </a:xfrm>
          <a:prstGeom prst="rect">
            <a:avLst/>
          </a:prstGeom>
          <a:solidFill>
            <a:srgbClr val="F3F3FF"/>
          </a:solidFill>
          <a:ln/>
        </p:spPr>
      </p:sp>
      <p:sp>
        <p:nvSpPr>
          <p:cNvPr id="6" name="Text 3"/>
          <p:cNvSpPr/>
          <p:nvPr/>
        </p:nvSpPr>
        <p:spPr>
          <a:xfrm>
            <a:off x="5488446" y="3074095"/>
            <a:ext cx="269392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KPI Cards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8446" y="3487043"/>
            <a:ext cx="269392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Customers · Avg Purchase · Avg Rating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381790" y="2874665"/>
            <a:ext cx="3092770" cy="1450181"/>
          </a:xfrm>
          <a:prstGeom prst="rect">
            <a:avLst/>
          </a:prstGeom>
          <a:solidFill>
            <a:srgbClr val="F3F3FF"/>
          </a:solidFill>
          <a:ln/>
        </p:spPr>
      </p:sp>
      <p:sp>
        <p:nvSpPr>
          <p:cNvPr id="9" name="Shape 6"/>
          <p:cNvSpPr/>
          <p:nvPr/>
        </p:nvSpPr>
        <p:spPr>
          <a:xfrm>
            <a:off x="8381790" y="2874665"/>
            <a:ext cx="25399" cy="1450181"/>
          </a:xfrm>
          <a:prstGeom prst="roundRect">
            <a:avLst>
              <a:gd name="adj" fmla="val 1178072"/>
            </a:avLst>
          </a:prstGeom>
          <a:solidFill>
            <a:srgbClr val="1AA5FA"/>
          </a:solidFill>
          <a:ln/>
        </p:spPr>
      </p:sp>
      <p:sp>
        <p:nvSpPr>
          <p:cNvPr id="10" name="Text 7"/>
          <p:cNvSpPr/>
          <p:nvPr/>
        </p:nvSpPr>
        <p:spPr>
          <a:xfrm>
            <a:off x="8581215" y="3074095"/>
            <a:ext cx="269392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Interactive Filters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581215" y="3487043"/>
            <a:ext cx="2693920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Subscription · Gender · Category · Shipping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289021" y="4324846"/>
            <a:ext cx="6185539" cy="1130995"/>
          </a:xfrm>
          <a:prstGeom prst="rect">
            <a:avLst/>
          </a:prstGeom>
          <a:solidFill>
            <a:srgbClr val="F3F3FF"/>
          </a:solidFill>
          <a:ln/>
        </p:spPr>
      </p:sp>
      <p:sp>
        <p:nvSpPr>
          <p:cNvPr id="13" name="Shape 10"/>
          <p:cNvSpPr/>
          <p:nvPr/>
        </p:nvSpPr>
        <p:spPr>
          <a:xfrm>
            <a:off x="5289021" y="4324846"/>
            <a:ext cx="6185539" cy="25400"/>
          </a:xfrm>
          <a:prstGeom prst="roundRect">
            <a:avLst>
              <a:gd name="adj" fmla="val 1178026"/>
            </a:avLst>
          </a:prstGeom>
          <a:solidFill>
            <a:srgbClr val="F34CD8"/>
          </a:solidFill>
          <a:ln/>
        </p:spPr>
      </p:sp>
      <p:sp>
        <p:nvSpPr>
          <p:cNvPr id="14" name="Text 11"/>
          <p:cNvSpPr/>
          <p:nvPr/>
        </p:nvSpPr>
        <p:spPr>
          <a:xfrm>
            <a:off x="5488446" y="4524276"/>
            <a:ext cx="578669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Visualizations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488446" y="4937224"/>
            <a:ext cx="578669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Revenue &amp; Sales by Category &amp; Age Group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3088"/>
            <a:ext cx="10795524" cy="3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Dashboard: Key Metrics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66109" y="1195288"/>
            <a:ext cx="4008040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98086" y="1757065"/>
            <a:ext cx="5344086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Total Customers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17547" y="1195288"/>
            <a:ext cx="4008040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$59.71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149524" y="1757065"/>
            <a:ext cx="5344086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Avg Purchase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66109" y="2186682"/>
            <a:ext cx="4008040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3.75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98086" y="2748459"/>
            <a:ext cx="5344086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Avg Review Rating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17547" y="2186682"/>
            <a:ext cx="4008040" cy="431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72.89%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149524" y="2748459"/>
            <a:ext cx="5344086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Non-Subscribers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49524" y="2992438"/>
            <a:ext cx="5344086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vs. 27.11% subscribers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3359051"/>
            <a:ext cx="3928567" cy="282922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261836" y="3348236"/>
            <a:ext cx="523812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Revenue by Category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61836" y="3626545"/>
            <a:ext cx="5238123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Clothing leads with ~$85K, followed by Accessories (~$60K), Footwear (~$35K), and Outerwear (~$15K).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79764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Key Findings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783284"/>
            <a:ext cx="1105170" cy="6830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3715643"/>
            <a:ext cx="251185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Clothing Leads Revenue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4421882"/>
            <a:ext cx="25118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Highest revenue category across all segments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274" y="2783284"/>
            <a:ext cx="1105170" cy="6830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9274" y="3715643"/>
            <a:ext cx="251185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Young Adults Top Revenue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3459274" y="4421882"/>
            <a:ext cx="25118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Largest revenue share by age group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463" y="2783284"/>
            <a:ext cx="1105170" cy="6830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20463" y="3715643"/>
            <a:ext cx="251185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Loyal Customers Dominate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220463" y="4421882"/>
            <a:ext cx="25118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Largest customer segment by purchase history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652" y="2783284"/>
            <a:ext cx="1105170" cy="68302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81652" y="3715643"/>
            <a:ext cx="251195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Discount Dependency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981652" y="4128591"/>
            <a:ext cx="251195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Some products rely heavily on promotions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4219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Business Recommendations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027833"/>
            <a:ext cx="3465525" cy="17942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507" y="2252663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Improve Loyalty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24507" y="2665611"/>
            <a:ext cx="29142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Strengthen subscription benefits &amp; retention programs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035" y="2027833"/>
            <a:ext cx="3465525" cy="17942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89457" y="2252663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Optimize Discounts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689457" y="2665611"/>
            <a:ext cx="29142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Reduce reliance on discounts for high-demand products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7985" y="2027833"/>
            <a:ext cx="3465624" cy="17942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54407" y="2252663"/>
            <a:ext cx="2914379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Target High-Value Customers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354407" y="2958902"/>
            <a:ext cx="29143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Personalize campaigns for top-revenue age groups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4021534"/>
            <a:ext cx="3465525" cy="17942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4507" y="4246364"/>
            <a:ext cx="2914279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Promote Top-Rated Products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024507" y="4952603"/>
            <a:ext cx="29142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Highlight high-rated items to boost engagement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035" y="4021534"/>
            <a:ext cx="3465525" cy="179427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89457" y="4246364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Enhance Monitoring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4689457" y="4659313"/>
            <a:ext cx="29142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 dashboards for real-time behavior tracking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0717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Skills &amp; Conclusion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092424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Tools &amp; Skills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98086" y="2610048"/>
            <a:ext cx="2477529" cy="1568053"/>
          </a:xfrm>
          <a:prstGeom prst="roundRect">
            <a:avLst>
              <a:gd name="adj" fmla="val 19082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6560" y="2828528"/>
            <a:ext cx="204058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6560" y="3321248"/>
            <a:ext cx="204058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Pandas, NumPy, EDA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375040" y="2610048"/>
            <a:ext cx="2477529" cy="1568053"/>
          </a:xfrm>
          <a:prstGeom prst="roundRect">
            <a:avLst>
              <a:gd name="adj" fmla="val 19082"/>
            </a:avLst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14" y="2828528"/>
            <a:ext cx="204058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MySQL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93514" y="3321248"/>
            <a:ext cx="204058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SQL, CTEs, Window Functions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98086" y="4377531"/>
            <a:ext cx="5154484" cy="1248866"/>
          </a:xfrm>
          <a:prstGeom prst="roundRect">
            <a:avLst>
              <a:gd name="adj" fmla="val 23959"/>
            </a:avLst>
          </a:prstGeom>
          <a:solidFill>
            <a:srgbClr val="F3F3FF"/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6560" y="4596011"/>
            <a:ext cx="471753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Power BI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6560" y="5088731"/>
            <a:ext cx="471753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Dashboards, KPIs, Storytelling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345476" y="2092424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Project Takeaway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45476" y="2585145"/>
            <a:ext cx="515448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End-to-end analytics workflow transforming raw retail data into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actionable business insights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from Python cleaning to SQL analysis to Power BI visualization.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345476" y="3767038"/>
            <a:ext cx="5154484" cy="1416149"/>
          </a:xfrm>
          <a:prstGeom prst="roundRect">
            <a:avLst>
              <a:gd name="adj" fmla="val 21129"/>
            </a:avLst>
          </a:prstGeom>
          <a:solidFill>
            <a:srgbClr val="B6FCB8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4900" y="4070350"/>
            <a:ext cx="249330" cy="19943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93656" y="3996333"/>
            <a:ext cx="430687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Supports retail organizations in improving engagement, optimizing marketing, and making informed decisions.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2026-07-10T09:42:02Z</dcterms:created>
  <dcterms:modified xsi:type="dcterms:W3CDTF">2026-07-10T09:42:02Z</dcterms:modified>
</cp:coreProperties>
</file>